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8" r:id="rId9"/>
    <p:sldId id="269" r:id="rId10"/>
    <p:sldId id="262" r:id="rId11"/>
    <p:sldId id="263" r:id="rId12"/>
    <p:sldId id="264" r:id="rId13"/>
    <p:sldId id="270" r:id="rId14"/>
    <p:sldId id="265" r:id="rId15"/>
    <p:sldId id="271" r:id="rId16"/>
    <p:sldId id="266" r:id="rId17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555560"/>
            <a:ext cx="657576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3"/>
          <p:cNvSpPr/>
          <p:nvPr/>
        </p:nvSpPr>
        <p:spPr>
          <a:xfrm>
            <a:off x="228600" y="136080"/>
            <a:ext cx="3499920" cy="4871520"/>
          </a:xfrm>
          <a:prstGeom prst="roundRect">
            <a:avLst>
              <a:gd name="adj" fmla="val 8403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48;p13"/>
          <p:cNvSpPr/>
          <p:nvPr/>
        </p:nvSpPr>
        <p:spPr>
          <a:xfrm>
            <a:off x="383400" y="379080"/>
            <a:ext cx="3191760" cy="2714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979440" y="228600"/>
            <a:ext cx="4444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28600" y="9208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28600" y="14277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228600" y="19346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228600" y="244152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228600" y="294840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228600" y="34552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228600" y="39621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228600" y="44690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74;p13"/>
          <p:cNvSpPr/>
          <p:nvPr/>
        </p:nvSpPr>
        <p:spPr>
          <a:xfrm>
            <a:off x="3805200" y="136080"/>
            <a:ext cx="5202360" cy="4871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6;p14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4561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0;p1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89;p16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47920" y="830160"/>
            <a:ext cx="44478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Google Shape;106;p17"/>
          <p:cNvSpPr/>
          <p:nvPr/>
        </p:nvSpPr>
        <p:spPr>
          <a:xfrm>
            <a:off x="435600" y="3666960"/>
            <a:ext cx="8272440" cy="1044360"/>
          </a:xfrm>
          <a:prstGeom prst="roundRect">
            <a:avLst>
              <a:gd name="adj" fmla="val 17679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107;p17"/>
          <p:cNvSpPr/>
          <p:nvPr/>
        </p:nvSpPr>
        <p:spPr>
          <a:xfrm>
            <a:off x="2099160" y="371016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Funnel Sans"/>
                <a:ea typeface="Funnel Sans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108;p17"/>
          <p:cNvSpPr/>
          <p:nvPr/>
        </p:nvSpPr>
        <p:spPr>
          <a:xfrm>
            <a:off x="435600" y="557640"/>
            <a:ext cx="8272440" cy="2968920"/>
          </a:xfrm>
          <a:prstGeom prst="roundRect">
            <a:avLst>
              <a:gd name="adj" fmla="val 7654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10;p18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12;p19"/>
          <p:cNvSpPr/>
          <p:nvPr/>
        </p:nvSpPr>
        <p:spPr>
          <a:xfrm rot="5400000">
            <a:off x="4471200" y="532800"/>
            <a:ext cx="201600" cy="86281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9080" y="1719360"/>
            <a:ext cx="6339960" cy="212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69080" y="487080"/>
            <a:ext cx="11822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2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9;p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Google Shape;25;p5"/>
          <p:cNvSpPr/>
          <p:nvPr/>
        </p:nvSpPr>
        <p:spPr>
          <a:xfrm rot="5400000">
            <a:off x="4492080" y="429840"/>
            <a:ext cx="222480" cy="89694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28;p6"/>
          <p:cNvSpPr/>
          <p:nvPr/>
        </p:nvSpPr>
        <p:spPr>
          <a:xfrm>
            <a:off x="136080" y="132480"/>
            <a:ext cx="8871840" cy="4952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0;p7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33280" y="1896480"/>
            <a:ext cx="687672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600" y="601920"/>
            <a:ext cx="4728240" cy="140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390320" y="3955680"/>
            <a:ext cx="636336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8;p22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21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s/digitalizaci%C3%B3n-el-fondo-tecnolog%C3%ADa-1599552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transmission" TargetMode="External"/><Relationship Id="rId2" Type="http://schemas.openxmlformats.org/officeDocument/2006/relationships/image" Target="../media/image6.1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agina3.mx/2017/08/tecnologias-de-informacion-comunicacion-en-la-administracion-publica-conceptos-enfoques-aplicaciones-y-resultados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creativecommons.org/licenses/by/3.0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asesordecalidad.blogspot.com/2016/02/procedimiento-contexto-organizacion.html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creativecommons.org/licenses/by-nc-sa/3.0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8;p24"/>
          <p:cNvPicPr/>
          <p:nvPr/>
        </p:nvPicPr>
        <p:blipFill>
          <a:blip r:embed="rId2"/>
          <a:srcRect t="13906" r="6550" b="734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0" name="Google Shape;129;p24"/>
          <p:cNvGrpSpPr/>
          <p:nvPr/>
        </p:nvGrpSpPr>
        <p:grpSpPr>
          <a:xfrm>
            <a:off x="242999" y="257760"/>
            <a:ext cx="8658001" cy="4627440"/>
            <a:chOff x="2050200" y="257760"/>
            <a:chExt cx="6850800" cy="4627440"/>
          </a:xfrm>
        </p:grpSpPr>
        <p:sp>
          <p:nvSpPr>
            <p:cNvPr id="51" name="Google Shape;130;p24"/>
            <p:cNvSpPr/>
            <p:nvPr/>
          </p:nvSpPr>
          <p:spPr>
            <a:xfrm>
              <a:off x="2050200" y="257760"/>
              <a:ext cx="6850800" cy="3777120"/>
            </a:xfrm>
            <a:prstGeom prst="roundRect">
              <a:avLst>
                <a:gd name="adj" fmla="val 7195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31;p24"/>
            <p:cNvSpPr/>
            <p:nvPr/>
          </p:nvSpPr>
          <p:spPr>
            <a:xfrm>
              <a:off x="2050200" y="4174560"/>
              <a:ext cx="6850800" cy="710640"/>
            </a:xfrm>
            <a:prstGeom prst="roundRect">
              <a:avLst>
                <a:gd name="adj" fmla="val 24504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42999" y="2685541"/>
            <a:ext cx="8658002" cy="601020"/>
          </a:xfrm>
          <a:prstGeom prst="rect">
            <a:avLst/>
          </a:prstGeom>
          <a:solidFill>
            <a:schemeClr val="tx2">
              <a:lumMod val="50000"/>
              <a:alpha val="85000"/>
            </a:schemeClr>
          </a:solidFill>
          <a:ln w="0">
            <a:noFill/>
          </a:ln>
          <a:effectLst>
            <a:outerShdw sx="1000" sy="1000" rotWithShape="0">
              <a:srgbClr val="000000">
                <a:alpha val="56000"/>
              </a:srgbClr>
            </a:outerShdw>
            <a:softEdge rad="12700"/>
          </a:effectLst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2060">
                      <a:alpha val="40000"/>
                    </a:srgbClr>
                  </a:outerShdw>
                </a:effectLst>
              </a:rPr>
              <a:t>Securing </a:t>
            </a:r>
            <a:r>
              <a:rPr lang="en-US" sz="3600" dirty="0" err="1">
                <a:solidFill>
                  <a:schemeClr val="bg1"/>
                </a:solidFill>
                <a:effectLst>
                  <a:outerShdw blurRad="50800" dist="38100" dir="2700000" algn="tl" rotWithShape="0">
                    <a:srgbClr val="002060">
                      <a:alpha val="40000"/>
                    </a:srgbClr>
                  </a:outerShdw>
                </a:effectLst>
              </a:rPr>
              <a:t>BitBeat</a:t>
            </a:r>
            <a:r>
              <a:rPr lang="en-US" sz="36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2060">
                      <a:alpha val="40000"/>
                    </a:srgbClr>
                  </a:outerShdw>
                </a:effectLst>
              </a:rPr>
              <a:t> Inc. Cloud Operations</a:t>
            </a:r>
            <a:endParaRPr lang="fr-FR" sz="3600" dirty="0">
              <a:solidFill>
                <a:schemeClr val="bg1"/>
              </a:solidFill>
              <a:effectLst>
                <a:outerShdw blurRad="50800" dist="38100" dir="2700000" algn="tl" rotWithShape="0">
                  <a:srgbClr val="002060">
                    <a:alpha val="40000"/>
                  </a:srgbClr>
                </a:outerShdw>
              </a:effectLst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2756384" y="4345214"/>
            <a:ext cx="3817620" cy="369332"/>
          </a:xfrm>
          <a:prstGeom prst="rect">
            <a:avLst/>
          </a:prstGeom>
          <a:solidFill>
            <a:schemeClr val="tx2">
              <a:lumMod val="50000"/>
              <a:alpha val="96000"/>
            </a:schemeClr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 lnSpcReduction="10000"/>
          </a:bodyPr>
          <a:lstStyle/>
          <a:p>
            <a:pPr algn="ctr">
              <a:lnSpc>
                <a:spcPct val="12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bg1"/>
                </a:solidFill>
              </a:rPr>
              <a:t>AWS Security, Privacy, and Compliance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F5FC6-F6EA-A186-6443-DC939BCA0265}"/>
              </a:ext>
            </a:extLst>
          </p:cNvPr>
          <p:cNvSpPr txBox="1"/>
          <p:nvPr/>
        </p:nvSpPr>
        <p:spPr>
          <a:xfrm>
            <a:off x="162546" y="4855603"/>
            <a:ext cx="2513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>
                <a:solidFill>
                  <a:schemeClr val="bg1"/>
                </a:solidFill>
              </a:rPr>
              <a:t>By</a:t>
            </a:r>
            <a:r>
              <a:rPr lang="pt-BR" sz="1600" dirty="0">
                <a:solidFill>
                  <a:schemeClr val="bg1"/>
                </a:solidFill>
              </a:rPr>
              <a:t>: Natasha de Lima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Google Shape;282;p31"/>
          <p:cNvSpPr/>
          <p:nvPr/>
        </p:nvSpPr>
        <p:spPr>
          <a:xfrm>
            <a:off x="151491" y="583894"/>
            <a:ext cx="5191920" cy="61694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83680" y="532446"/>
            <a:ext cx="5081760" cy="71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Introduction</a:t>
            </a:r>
            <a:endParaRPr lang="fr-FR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228600" y="1424920"/>
            <a:ext cx="5191920" cy="347758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This presentation outlines a comprehensive 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security policy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 for </a:t>
            </a:r>
            <a:r>
              <a:rPr lang="en-US" sz="24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BitBeat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 Inc., focusing on protecting data and operations within 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AWS services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. It explains key concepts and responsibilities to help management understand their role in maintaining a secure cloud environment.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Google Shape;282;p31"/>
          <p:cNvSpPr/>
          <p:nvPr/>
        </p:nvSpPr>
        <p:spPr>
          <a:xfrm>
            <a:off x="217371" y="585360"/>
            <a:ext cx="5191920" cy="530813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28599" y="600120"/>
            <a:ext cx="5180692" cy="53081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AWS Security</a:t>
            </a:r>
            <a:r>
              <a:rPr lang="fr-FR" sz="2700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Fundamentals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750855E-93CF-A0BD-5B43-68BCCE36474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62498" y="1463280"/>
            <a:ext cx="529085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network,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virtualization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BitBeat Inc.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identity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management,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225;p28"/>
          <p:cNvSpPr/>
          <p:nvPr/>
        </p:nvSpPr>
        <p:spPr>
          <a:xfrm>
            <a:off x="118440" y="1505520"/>
            <a:ext cx="8906760" cy="31579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34319" y="429659"/>
            <a:ext cx="8075362" cy="6610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Shared Responsibility Model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82C564-7DBA-33D4-8E65-A4A8495D8817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37241" y="1560986"/>
            <a:ext cx="890675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2400" dirty="0"/>
              <a:t>AWS manages security </a:t>
            </a:r>
            <a:r>
              <a:rPr lang="en-US" sz="2400" i="1" dirty="0"/>
              <a:t>of the cloud</a:t>
            </a:r>
            <a:r>
              <a:rPr lang="en-US" sz="2400" dirty="0"/>
              <a:t>, while </a:t>
            </a:r>
            <a:r>
              <a:rPr lang="en-US" sz="2400" dirty="0" err="1"/>
              <a:t>BitBeat</a:t>
            </a:r>
            <a:r>
              <a:rPr lang="en-US" sz="2400" dirty="0"/>
              <a:t> Inc. handles 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2400" dirty="0"/>
              <a:t>security </a:t>
            </a:r>
            <a:r>
              <a:rPr lang="en-US" sz="2400" i="1" dirty="0"/>
              <a:t>in the cloud</a:t>
            </a:r>
            <a:r>
              <a:rPr lang="en-US" sz="2400" dirty="0"/>
              <a:t>.</a:t>
            </a:r>
            <a:endParaRPr lang="pt-BR" altLang="pt-BR" sz="24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Responsibility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underlying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servers,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networking.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BitBeat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Responsibility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data,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configurations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boundaries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responsibilities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accountability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282;p31"/>
          <p:cNvSpPr/>
          <p:nvPr/>
        </p:nvSpPr>
        <p:spPr>
          <a:xfrm>
            <a:off x="239626" y="407624"/>
            <a:ext cx="5191920" cy="88134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39626" y="506775"/>
            <a:ext cx="5191920" cy="7821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Identity and Access Management (IAM) Best</a:t>
            </a:r>
            <a:r>
              <a:rPr lang="fr-FR" sz="2700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Practices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F242F20-9C10-3AB3-F182-DB77B603AD53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38845" y="1497404"/>
            <a:ext cx="534593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strict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IAM policies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principle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least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privilege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multi-factor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(MFA)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permissions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unauthorized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225;p28"/>
          <p:cNvSpPr/>
          <p:nvPr/>
        </p:nvSpPr>
        <p:spPr>
          <a:xfrm>
            <a:off x="118620" y="1604671"/>
            <a:ext cx="8906760" cy="3180781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88643" y="379544"/>
            <a:ext cx="7869197" cy="67047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Data Encryption and Protection Methods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9884A-4E74-3F3C-16B5-703F7FB83AE9}"/>
              </a:ext>
            </a:extLst>
          </p:cNvPr>
          <p:cNvSpPr txBox="1"/>
          <p:nvPr/>
        </p:nvSpPr>
        <p:spPr>
          <a:xfrm>
            <a:off x="258340" y="1615353"/>
            <a:ext cx="852980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Encrypt data at rest and in transit using AWS services like KMS and S3 encryption.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secure key management to control access to encryption keys.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Implement backup and storage policies to maintain data integrity and availability.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Ensure compliance with data protection standards to guard against cyber threats.</a:t>
            </a:r>
            <a:endParaRPr lang="pt-BR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B310-2D20-3F47-30B7-BC7C5459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280;p31">
            <a:extLst>
              <a:ext uri="{FF2B5EF4-FFF2-40B4-BE49-F238E27FC236}">
                <a16:creationId xmlns:a16="http://schemas.microsoft.com/office/drawing/2014/main" id="{3DE0113C-D9B9-6C16-D34E-E0808D65C67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-3382" t="-3" r="46064" b="3"/>
          <a:stretch>
            <a:fillRect/>
          </a:stretch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282;p31">
            <a:extLst>
              <a:ext uri="{FF2B5EF4-FFF2-40B4-BE49-F238E27FC236}">
                <a16:creationId xmlns:a16="http://schemas.microsoft.com/office/drawing/2014/main" id="{2566D5B5-9BF8-B98A-57A6-B0BD63DAD621}"/>
              </a:ext>
            </a:extLst>
          </p:cNvPr>
          <p:cNvSpPr/>
          <p:nvPr/>
        </p:nvSpPr>
        <p:spPr>
          <a:xfrm>
            <a:off x="239626" y="583893"/>
            <a:ext cx="5191920" cy="50677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PlaceHolder 1">
            <a:extLst>
              <a:ext uri="{FF2B5EF4-FFF2-40B4-BE49-F238E27FC236}">
                <a16:creationId xmlns:a16="http://schemas.microsoft.com/office/drawing/2014/main" id="{9A769CE0-71B3-44FF-2E43-4800696F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26" y="506775"/>
            <a:ext cx="5191920" cy="58389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fr-FR" sz="2700" b="1" dirty="0">
                <a:latin typeface="Manrope"/>
              </a:rPr>
              <a:t>Endpoint Security Tools</a:t>
            </a:r>
            <a:endParaRPr lang="fr-FR" sz="2700" b="1" u="none" strike="noStrike" dirty="0">
              <a:effectLst/>
              <a:uFillTx/>
              <a:latin typeface="Manrope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EDAAF22-162B-A0DE-4398-0C86AFA5DD5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38845" y="1666681"/>
            <a:ext cx="534593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sz="2200" dirty="0">
                <a:latin typeface="Arial" panose="020B0604020202020204" pitchFamily="34" charset="0"/>
              </a:rPr>
              <a:t>Secure endpoints with AWS Workspaces and device controls.</a:t>
            </a:r>
          </a:p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sz="22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sz="2200" dirty="0">
                <a:latin typeface="Arial" panose="020B0604020202020204" pitchFamily="34" charset="0"/>
              </a:rPr>
              <a:t>Protects employee laptops and remote connections from threats.</a:t>
            </a:r>
          </a:p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pt-BR" sz="22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pt-BR" sz="2200" dirty="0">
                <a:latin typeface="Arial" panose="020B0604020202020204" pitchFamily="34" charset="0"/>
              </a:rPr>
              <a:t>Complements IAM and encryption by extending security to user devices.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67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F9227-FF92-13C5-0F86-F59C2992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225;p28">
            <a:extLst>
              <a:ext uri="{FF2B5EF4-FFF2-40B4-BE49-F238E27FC236}">
                <a16:creationId xmlns:a16="http://schemas.microsoft.com/office/drawing/2014/main" id="{B54D159C-D701-266E-B0D7-8AAD2EB85D7F}"/>
              </a:ext>
            </a:extLst>
          </p:cNvPr>
          <p:cNvSpPr/>
          <p:nvPr/>
        </p:nvSpPr>
        <p:spPr>
          <a:xfrm>
            <a:off x="118620" y="1604671"/>
            <a:ext cx="8906760" cy="3180781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PlaceHolder 1">
            <a:extLst>
              <a:ext uri="{FF2B5EF4-FFF2-40B4-BE49-F238E27FC236}">
                <a16:creationId xmlns:a16="http://schemas.microsoft.com/office/drawing/2014/main" id="{7FD1A246-2100-0EA3-B22F-E6D44BBD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643" y="379544"/>
            <a:ext cx="7869197" cy="67047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>
                <a:solidFill>
                  <a:schemeClr val="dk1"/>
                </a:solidFill>
                <a:latin typeface="Manrope"/>
                <a:ea typeface="Manrope"/>
              </a:rPr>
              <a:t>Monitoring &amp; Threat Detection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>
            <a:extLst>
              <a:ext uri="{FF2B5EF4-FFF2-40B4-BE49-F238E27FC236}">
                <a16:creationId xmlns:a16="http://schemas.microsoft.com/office/drawing/2014/main" id="{C93E1925-CC2F-A08C-8DA7-8564828516C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0DEE9-7852-39F2-28BB-65EC0AE93B9C}"/>
              </a:ext>
            </a:extLst>
          </p:cNvPr>
          <p:cNvSpPr txBox="1"/>
          <p:nvPr/>
        </p:nvSpPr>
        <p:spPr>
          <a:xfrm>
            <a:off x="225291" y="1692469"/>
            <a:ext cx="46441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AWS services like CloudTrail, </a:t>
            </a:r>
            <a:r>
              <a:rPr lang="en-US" sz="2000" dirty="0" err="1"/>
              <a:t>GuardDuty</a:t>
            </a:r>
            <a:r>
              <a:rPr lang="en-US" sz="2000" dirty="0"/>
              <a:t>, and CloudWatch.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real-time visibility into user activity and system health.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Helps catch threats early before they spread across the network.</a:t>
            </a:r>
            <a:endParaRPr lang="pt-BR" sz="2000" dirty="0"/>
          </a:p>
        </p:txBody>
      </p:sp>
      <p:pic>
        <p:nvPicPr>
          <p:cNvPr id="3" name="Picture 2" descr="A blue background with icons&#10;&#10;AI-generated content may be incorrect.">
            <a:extLst>
              <a:ext uri="{FF2B5EF4-FFF2-40B4-BE49-F238E27FC236}">
                <a16:creationId xmlns:a16="http://schemas.microsoft.com/office/drawing/2014/main" id="{5667DB5C-6C5C-A628-D582-C6D60EEBE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39310" y="1643600"/>
            <a:ext cx="3988399" cy="265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79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Google Shape;282;p31"/>
          <p:cNvSpPr/>
          <p:nvPr/>
        </p:nvSpPr>
        <p:spPr>
          <a:xfrm>
            <a:off x="154943" y="375173"/>
            <a:ext cx="5345926" cy="73813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06566" y="435466"/>
            <a:ext cx="5345926" cy="61754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Privacy and Compliance</a:t>
            </a:r>
            <a:r>
              <a:rPr lang="fr-FR" sz="2700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Framework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228600" y="1531780"/>
            <a:ext cx="5272269" cy="3176254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Funnel Sans"/>
              </a:rPr>
              <a:t>Compliance is crucial to protect customer data and avoid legal penalties.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+mn-lt"/>
              <a:ea typeface="Funne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Funnel Sans"/>
              </a:rPr>
              <a:t>Policies must align with industry standards and regulations.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+mn-lt"/>
              <a:ea typeface="Funnel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Funnel Sans"/>
              </a:rPr>
              <a:t>Regular monitoring and audits help maintain trust and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282;p31"/>
          <p:cNvSpPr/>
          <p:nvPr/>
        </p:nvSpPr>
        <p:spPr>
          <a:xfrm>
            <a:off x="228600" y="329129"/>
            <a:ext cx="5191920" cy="923951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28600" y="329129"/>
            <a:ext cx="5191920" cy="90919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Regulatory Requirements and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Standards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228600" y="1663547"/>
            <a:ext cx="5191920" cy="302963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10000"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/>
              <a:t>Follow GDPR, HIPAA, and PCI-DSS regulations where applicable.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/>
              <a:t>Conduct regular audits and assessments to ensure ongoing compliance.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/>
              <a:t>Keep policies updated with changes in legal and industry standards.</a:t>
            </a:r>
            <a:endParaRPr lang="en-US" sz="2400" b="0" u="none" strike="noStrike" dirty="0">
              <a:effectLst/>
              <a:uFillTx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225;p28"/>
          <p:cNvSpPr/>
          <p:nvPr/>
        </p:nvSpPr>
        <p:spPr>
          <a:xfrm>
            <a:off x="118440" y="1505520"/>
            <a:ext cx="8906760" cy="345207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81381" y="377021"/>
            <a:ext cx="8580878" cy="70263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Policies for Protecting Customer Data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06E10CB-B59C-7B8A-42F7-DA5CA5B66EF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81381" y="1696631"/>
            <a:ext cx="8580878" cy="3069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strict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anonymization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tokenization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procedures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leaks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misuse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Regularly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review policies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trust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96B5C-CC00-9015-3018-E95A169A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280;p31">
            <a:extLst>
              <a:ext uri="{FF2B5EF4-FFF2-40B4-BE49-F238E27FC236}">
                <a16:creationId xmlns:a16="http://schemas.microsoft.com/office/drawing/2014/main" id="{C9BFCE81-67D8-860F-A8D0-A583A358E6C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7880" r="13684"/>
          <a:stretch>
            <a:fillRect/>
          </a:stretch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282;p31">
            <a:extLst>
              <a:ext uri="{FF2B5EF4-FFF2-40B4-BE49-F238E27FC236}">
                <a16:creationId xmlns:a16="http://schemas.microsoft.com/office/drawing/2014/main" id="{D701D7B2-902F-65F4-5AEE-CD0DC42F6C42}"/>
              </a:ext>
            </a:extLst>
          </p:cNvPr>
          <p:cNvSpPr/>
          <p:nvPr/>
        </p:nvSpPr>
        <p:spPr>
          <a:xfrm>
            <a:off x="228600" y="450315"/>
            <a:ext cx="5191920" cy="585271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PlaceHolder 1">
            <a:extLst>
              <a:ext uri="{FF2B5EF4-FFF2-40B4-BE49-F238E27FC236}">
                <a16:creationId xmlns:a16="http://schemas.microsoft.com/office/drawing/2014/main" id="{B2AEE754-230F-49CE-5550-A837AA348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29129"/>
            <a:ext cx="5191920" cy="7064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700" b="1" dirty="0">
                <a:solidFill>
                  <a:schemeClr val="dk1"/>
                </a:solidFill>
                <a:latin typeface="Manrope"/>
                <a:ea typeface="Manrope"/>
              </a:rPr>
              <a:t>Employee Role in Security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>
            <a:extLst>
              <a:ext uri="{FF2B5EF4-FFF2-40B4-BE49-F238E27FC236}">
                <a16:creationId xmlns:a16="http://schemas.microsoft.com/office/drawing/2014/main" id="{3BCAEEEA-6785-A0C6-A545-D6CB1C98A94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8600" y="1344058"/>
            <a:ext cx="5191920" cy="302963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20000"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/>
              <a:t>Employees follow strict login, MFA, and data-handling rules.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/>
              <a:t>Security training reinforces daily best practices.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/>
              <a:t>Supports the shared responsibility model between AWS and </a:t>
            </a:r>
            <a:r>
              <a:rPr lang="en-US" sz="2400" dirty="0" err="1"/>
              <a:t>BitBeat</a:t>
            </a:r>
            <a:r>
              <a:rPr lang="en-US" sz="2400" dirty="0"/>
              <a:t> Inc.</a:t>
            </a:r>
            <a:endParaRPr lang="en-US" sz="2400" b="0" u="none" strike="noStrike" dirty="0">
              <a:effectLst/>
              <a:uFillTx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17FAB-F01A-E0D1-1232-D9C13DD19924}"/>
              </a:ext>
            </a:extLst>
          </p:cNvPr>
          <p:cNvSpPr txBox="1"/>
          <p:nvPr/>
        </p:nvSpPr>
        <p:spPr>
          <a:xfrm>
            <a:off x="5659200" y="5143320"/>
            <a:ext cx="34844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pagina3.mx/2017/08/tecnologias-de-informacion-comunicacion-en-la-administracion-publica-conceptos-enfoques-aplicaciones-y-resultados/"/>
              </a:rPr>
              <a:t>This Photo</a:t>
            </a:r>
            <a:r>
              <a:rPr lang="pt-BR" sz="900"/>
              <a:t> by Unknown Author is licensed under </a:t>
            </a:r>
            <a:r>
              <a:rPr lang="pt-BR" sz="900">
                <a:hlinkClick r:id="rId4" tooltip="https://creativecommons.org/licenses/by/3.0/"/>
              </a:rPr>
              <a:t>CC BY</a:t>
            </a:r>
            <a:endParaRPr lang="pt-BR" sz="900"/>
          </a:p>
        </p:txBody>
      </p:sp>
    </p:spTree>
    <p:extLst>
      <p:ext uri="{BB962C8B-B14F-4D97-AF65-F5344CB8AC3E}">
        <p14:creationId xmlns:p14="http://schemas.microsoft.com/office/powerpoint/2010/main" val="2735872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225;p28"/>
          <p:cNvSpPr/>
          <p:nvPr/>
        </p:nvSpPr>
        <p:spPr>
          <a:xfrm>
            <a:off x="118620" y="1520668"/>
            <a:ext cx="8906760" cy="3381838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Incident Response and Reporting Procedures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191512" y="1520668"/>
            <a:ext cx="8760975" cy="338183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latin typeface="+mn-lt"/>
              </a:rPr>
              <a:t>Develop a clear incident response plan with defined roles.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dirty="0">
              <a:latin typeface="+mn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latin typeface="+mn-lt"/>
              </a:rPr>
              <a:t>Establish communication channels for internal reporting.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dirty="0">
              <a:latin typeface="+mn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latin typeface="+mn-lt"/>
              </a:rPr>
              <a:t>Ensure timely detection, reporting, and remediation of security incidents.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dirty="0">
              <a:latin typeface="+mn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>
                <a:latin typeface="+mn-lt"/>
              </a:rPr>
              <a:t>Conduct post-incident reviews to prevent future occurrences.</a:t>
            </a:r>
            <a:endParaRPr lang="en-US" sz="2400" b="0" u="none" strike="noStrike" dirty="0">
              <a:effectLst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C2EA5-1296-1B49-0FFB-0F8E53E85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280;p31">
            <a:extLst>
              <a:ext uri="{FF2B5EF4-FFF2-40B4-BE49-F238E27FC236}">
                <a16:creationId xmlns:a16="http://schemas.microsoft.com/office/drawing/2014/main" id="{EDAB0A5E-4C63-91E3-16BF-EB92632A0E0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5971" r="30483"/>
          <a:stretch>
            <a:fillRect/>
          </a:stretch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282;p31">
            <a:extLst>
              <a:ext uri="{FF2B5EF4-FFF2-40B4-BE49-F238E27FC236}">
                <a16:creationId xmlns:a16="http://schemas.microsoft.com/office/drawing/2014/main" id="{830C1D5F-2123-9F9C-9D60-A5406AEB7A16}"/>
              </a:ext>
            </a:extLst>
          </p:cNvPr>
          <p:cNvSpPr/>
          <p:nvPr/>
        </p:nvSpPr>
        <p:spPr>
          <a:xfrm>
            <a:off x="228600" y="450315"/>
            <a:ext cx="5191920" cy="585271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PlaceHolder 1">
            <a:extLst>
              <a:ext uri="{FF2B5EF4-FFF2-40B4-BE49-F238E27FC236}">
                <a16:creationId xmlns:a16="http://schemas.microsoft.com/office/drawing/2014/main" id="{A2B49891-B9F9-9AD8-1D24-6027B9B4D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29129"/>
            <a:ext cx="5191920" cy="7064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700" b="1" dirty="0">
                <a:solidFill>
                  <a:schemeClr val="dk1"/>
                </a:solidFill>
                <a:latin typeface="Manrope"/>
                <a:ea typeface="Manrope"/>
              </a:rPr>
              <a:t>Business Impact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>
            <a:extLst>
              <a:ext uri="{FF2B5EF4-FFF2-40B4-BE49-F238E27FC236}">
                <a16:creationId xmlns:a16="http://schemas.microsoft.com/office/drawing/2014/main" id="{7BC2D83F-BC67-C8B6-6FDE-F5FE75C2764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28600" y="1288974"/>
            <a:ext cx="5191920" cy="302963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20000"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/>
              <a:t>Security ensures operational continuity and reduces downtime.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/>
              <a:t>Protects </a:t>
            </a:r>
            <a:r>
              <a:rPr lang="en-US" sz="2400" dirty="0" err="1"/>
              <a:t>BitBeat</a:t>
            </a:r>
            <a:r>
              <a:rPr lang="en-US" sz="2400" dirty="0"/>
              <a:t> Inc.’s brand and builds customer confidence.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2400" dirty="0"/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400" dirty="0"/>
              <a:t>Demonstrates responsibility to regulators, investors, and clients.</a:t>
            </a:r>
            <a:endParaRPr lang="en-US" sz="2400" b="0" u="none" strike="noStrike" dirty="0">
              <a:effectLst/>
              <a:uFillTx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6023E-82C3-C0F4-ED4F-E7E0D6631659}"/>
              </a:ext>
            </a:extLst>
          </p:cNvPr>
          <p:cNvSpPr txBox="1"/>
          <p:nvPr/>
        </p:nvSpPr>
        <p:spPr>
          <a:xfrm>
            <a:off x="5659200" y="5143320"/>
            <a:ext cx="34844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 err="1">
                <a:hlinkClick r:id="rId3" tooltip="http://asesordecalidad.blogspot.com/2016/02/procedimiento-contexto-organizacion.html"/>
              </a:rPr>
              <a:t>This</a:t>
            </a:r>
            <a:r>
              <a:rPr lang="pt-BR" sz="900" dirty="0">
                <a:hlinkClick r:id="rId3" tooltip="http://asesordecalidad.blogspot.com/2016/02/procedimiento-contexto-organizacion.html"/>
              </a:rPr>
              <a:t> </a:t>
            </a:r>
            <a:r>
              <a:rPr lang="pt-BR" sz="900" dirty="0" err="1">
                <a:hlinkClick r:id="rId3" tooltip="http://asesordecalidad.blogspot.com/2016/02/procedimiento-contexto-organizacion.html"/>
              </a:rPr>
              <a:t>Photo</a:t>
            </a:r>
            <a:r>
              <a:rPr lang="pt-BR" sz="900" dirty="0"/>
              <a:t> </a:t>
            </a:r>
            <a:r>
              <a:rPr lang="pt-BR" sz="900" dirty="0" err="1"/>
              <a:t>by</a:t>
            </a:r>
            <a:r>
              <a:rPr lang="pt-BR" sz="900" dirty="0"/>
              <a:t> </a:t>
            </a:r>
            <a:r>
              <a:rPr lang="pt-BR" sz="900" dirty="0" err="1"/>
              <a:t>Unknown</a:t>
            </a:r>
            <a:r>
              <a:rPr lang="pt-BR" sz="900" dirty="0"/>
              <a:t> </a:t>
            </a:r>
            <a:r>
              <a:rPr lang="pt-BR" sz="900" dirty="0" err="1"/>
              <a:t>Author</a:t>
            </a:r>
            <a:r>
              <a:rPr lang="pt-BR" sz="900" dirty="0"/>
              <a:t> </a:t>
            </a:r>
            <a:r>
              <a:rPr lang="pt-BR" sz="900" dirty="0" err="1"/>
              <a:t>is</a:t>
            </a:r>
            <a:r>
              <a:rPr lang="pt-BR" sz="900" dirty="0"/>
              <a:t> </a:t>
            </a:r>
            <a:r>
              <a:rPr lang="pt-BR" sz="900" dirty="0" err="1"/>
              <a:t>licensed</a:t>
            </a:r>
            <a:r>
              <a:rPr lang="pt-BR" sz="900" dirty="0"/>
              <a:t> </a:t>
            </a:r>
            <a:r>
              <a:rPr lang="pt-BR" sz="900" dirty="0" err="1"/>
              <a:t>under</a:t>
            </a:r>
            <a:r>
              <a:rPr lang="pt-BR" sz="900" dirty="0"/>
              <a:t> </a:t>
            </a:r>
            <a:r>
              <a:rPr lang="pt-BR" sz="900" dirty="0">
                <a:hlinkClick r:id="rId4" tooltip="https://creativecommons.org/licenses/by-nc-sa/3.0/"/>
              </a:rPr>
              <a:t>CC BY-SA-NC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406846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Google Shape;282;p31"/>
          <p:cNvSpPr/>
          <p:nvPr/>
        </p:nvSpPr>
        <p:spPr>
          <a:xfrm>
            <a:off x="228599" y="334757"/>
            <a:ext cx="5191920" cy="637512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28599" y="334758"/>
            <a:ext cx="5191919" cy="6375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Conclusion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228599" y="1124618"/>
            <a:ext cx="5290851" cy="352988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+mn-lt"/>
              </a:rPr>
              <a:t>A robust AWS security policy protects </a:t>
            </a:r>
            <a:r>
              <a:rPr lang="en-US" sz="1800" dirty="0" err="1">
                <a:latin typeface="+mn-lt"/>
              </a:rPr>
              <a:t>BitBeat</a:t>
            </a:r>
            <a:r>
              <a:rPr lang="en-US" sz="1800" dirty="0">
                <a:latin typeface="+mn-lt"/>
              </a:rPr>
              <a:t> Inc.’s cloud operations.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800" dirty="0">
              <a:latin typeface="+mn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+mn-lt"/>
              </a:rPr>
              <a:t>Ensures regulatory compliance and safeguards sensitive customer data.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800" dirty="0">
              <a:latin typeface="+mn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+mn-lt"/>
              </a:rPr>
              <a:t>Encourages a shared responsibility culture across employees and IT.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800" dirty="0">
              <a:latin typeface="+mn-l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latin typeface="+mn-lt"/>
              </a:rPr>
              <a:t>Supports secure growth and trust for both the company and its customers.</a:t>
            </a:r>
            <a:endParaRPr lang="en-US" sz="1800" b="0" u="none" strike="noStrike" dirty="0">
              <a:effectLst/>
              <a:uFillTx/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Architecture by Slidesgo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</TotalTime>
  <Words>633</Words>
  <Application>Microsoft Office PowerPoint</Application>
  <PresentationFormat>On-screen Show (16:9)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Funnel Sans</vt:lpstr>
      <vt:lpstr>Manrope</vt:lpstr>
      <vt:lpstr>OpenSymbol</vt:lpstr>
      <vt:lpstr>Symbol</vt:lpstr>
      <vt:lpstr>Wingdings</vt:lpstr>
      <vt:lpstr>Computer Architecture by Slidesgo</vt:lpstr>
      <vt:lpstr>Slidesgo Final Pages</vt:lpstr>
      <vt:lpstr>Securing BitBeat Inc. Cloud Operations</vt:lpstr>
      <vt:lpstr>Introduction</vt:lpstr>
      <vt:lpstr>AWS Security Fundamentals</vt:lpstr>
      <vt:lpstr>Shared Responsibility Model</vt:lpstr>
      <vt:lpstr>Identity and Access Management (IAM) Best Practices</vt:lpstr>
      <vt:lpstr>Data Encryption and Protection Methods</vt:lpstr>
      <vt:lpstr>Endpoint Security Tools</vt:lpstr>
      <vt:lpstr>Monitoring &amp; Threat Detection</vt:lpstr>
      <vt:lpstr>Privacy and Compliance Framework</vt:lpstr>
      <vt:lpstr>Regulatory Requirements and  Standards</vt:lpstr>
      <vt:lpstr>Policies for Protecting Customer Data</vt:lpstr>
      <vt:lpstr>Employee Role in Security</vt:lpstr>
      <vt:lpstr>Incident Response and Reporting Procedures</vt:lpstr>
      <vt:lpstr>Business Impact</vt:lpstr>
      <vt:lpstr>Conclusion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Natasha de Lima</cp:lastModifiedBy>
  <cp:revision>4</cp:revision>
  <dcterms:modified xsi:type="dcterms:W3CDTF">2025-10-04T02:37:00Z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2025-10-01T01:56:03Z</dcterms:created>
  <dc:creator>Unknown Creator</dc:creator>
  <dc:description/>
  <dc:language>en-US</dc:language>
  <cp:lastModifiedBy>Unknown Creator</cp:lastModifiedBy>
  <dcterms:modified xsi:type="dcterms:W3CDTF">2025-10-01T01:56:03Z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2025-10-01T02:31:15Z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42804ae1-d2e9-40b7-a4a3-45811234298b</vt:lpwstr>
  </property>
  <property fmtid="{D5CDD505-2E9C-101B-9397-08002B2CF9AE}" pid="8" name="MSIP_Label_defa4170-0d19-0005-0004-bc88714345d2_ActionId">
    <vt:lpwstr>62aa487f-6e26-463d-9e30-008fa9957e29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